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06a6f454db4f57" /><Relationship Type="http://schemas.openxmlformats.org/officeDocument/2006/relationships/extended-properties" Target="/docProps/app.xml" Id="R56c0fd5734cb4755" /><Relationship Type="http://schemas.openxmlformats.org/officeDocument/2006/relationships/officeDocument" Target="/ppt/presentation.xml" Id="R0d7e16c6839d40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627ef4d2246dd"/>
  </p:sldMasterIdLst>
  <p:notesMasterIdLst>
    <p:notesMasterId xmlns:r="http://schemas.openxmlformats.org/officeDocument/2006/relationships" r:id="Rae96be83645342b0"/>
  </p:notesMasterIdLst>
  <p:sldIdLst>
    <p:sldId xmlns:r="http://schemas.openxmlformats.org/officeDocument/2006/relationships" id="256" r:id="R313a1dc7d1034019"/>
    <p:sldId xmlns:r="http://schemas.openxmlformats.org/officeDocument/2006/relationships" id="257" r:id="Rb97a35e54e974d8e"/>
    <p:sldId xmlns:r="http://schemas.openxmlformats.org/officeDocument/2006/relationships" id="258" r:id="R2d25de4190aa4da1"/>
    <p:sldId xmlns:r="http://schemas.openxmlformats.org/officeDocument/2006/relationships" id="259" r:id="R28d8a8fcfc74434d"/>
    <p:sldId xmlns:r="http://schemas.openxmlformats.org/officeDocument/2006/relationships" id="260" r:id="R6ff5f9b0be26476a"/>
    <p:sldId xmlns:r="http://schemas.openxmlformats.org/officeDocument/2006/relationships" id="261" r:id="R074a973201b14757"/>
    <p:sldId xmlns:r="http://schemas.openxmlformats.org/officeDocument/2006/relationships" id="262" r:id="R13194ba80fa74fcf"/>
    <p:sldId xmlns:r="http://schemas.openxmlformats.org/officeDocument/2006/relationships" id="263" r:id="R0c23898a5c6a412e"/>
    <p:sldId xmlns:r="http://schemas.openxmlformats.org/officeDocument/2006/relationships" id="264" r:id="R6bdf8cd652de4bad"/>
    <p:sldId xmlns:r="http://schemas.openxmlformats.org/officeDocument/2006/relationships" id="265" r:id="R3faed298c1ec4b4e"/>
    <p:sldId xmlns:r="http://schemas.openxmlformats.org/officeDocument/2006/relationships" id="266" r:id="R26a89a796af54bb2"/>
    <p:sldId xmlns:r="http://schemas.openxmlformats.org/officeDocument/2006/relationships" id="267" r:id="R1451b6b80044497a"/>
    <p:sldId xmlns:r="http://schemas.openxmlformats.org/officeDocument/2006/relationships" id="268" r:id="R0e1bfcd2917541f0"/>
    <p:sldId xmlns:r="http://schemas.openxmlformats.org/officeDocument/2006/relationships" id="269" r:id="R5bb779fcf20b4f90"/>
    <p:sldId xmlns:r="http://schemas.openxmlformats.org/officeDocument/2006/relationships" id="270" r:id="R3b06440a08ff49f1"/>
    <p:sldId xmlns:r="http://schemas.openxmlformats.org/officeDocument/2006/relationships" id="271" r:id="Raaa8b56192d2488c"/>
    <p:sldId xmlns:r="http://schemas.openxmlformats.org/officeDocument/2006/relationships" id="272" r:id="R4e57410c48b94721"/>
    <p:sldId xmlns:r="http://schemas.openxmlformats.org/officeDocument/2006/relationships" id="273" r:id="R8ce1b5e6272346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50cc0cae274b43" /><Relationship Type="http://schemas.openxmlformats.org/officeDocument/2006/relationships/slideMaster" Target="/ppt/slideMasters/slideMaster1.xml" Id="Re9d627ef4d2246dd" /><Relationship Type="http://schemas.openxmlformats.org/officeDocument/2006/relationships/notesMaster" Target="/ppt/notesMasters/notesMaster1.xml" Id="Rae96be83645342b0" /><Relationship Type="http://schemas.openxmlformats.org/officeDocument/2006/relationships/presProps" Target="/ppt/presProps.xml" Id="R1209d45533024b5b" /><Relationship Type="http://schemas.openxmlformats.org/officeDocument/2006/relationships/tableStyles" Target="/ppt/tableStyles.xml" Id="R2958e68629f54396" /><Relationship Type="http://schemas.openxmlformats.org/officeDocument/2006/relationships/slide" Target="/ppt/slides/slide1.xml" Id="R313a1dc7d1034019" /><Relationship Type="http://schemas.openxmlformats.org/officeDocument/2006/relationships/slide" Target="/ppt/slides/slide2.xml" Id="Rb97a35e54e974d8e" /><Relationship Type="http://schemas.openxmlformats.org/officeDocument/2006/relationships/slide" Target="/ppt/slides/slide3.xml" Id="R2d25de4190aa4da1" /><Relationship Type="http://schemas.openxmlformats.org/officeDocument/2006/relationships/slide" Target="/ppt/slides/slide4.xml" Id="R28d8a8fcfc74434d" /><Relationship Type="http://schemas.openxmlformats.org/officeDocument/2006/relationships/slide" Target="/ppt/slides/slide5.xml" Id="R6ff5f9b0be26476a" /><Relationship Type="http://schemas.openxmlformats.org/officeDocument/2006/relationships/slide" Target="/ppt/slides/slide6.xml" Id="R074a973201b14757" /><Relationship Type="http://schemas.openxmlformats.org/officeDocument/2006/relationships/slide" Target="/ppt/slides/slide7.xml" Id="R13194ba80fa74fcf" /><Relationship Type="http://schemas.openxmlformats.org/officeDocument/2006/relationships/slide" Target="/ppt/slides/slide8.xml" Id="R0c23898a5c6a412e" /><Relationship Type="http://schemas.openxmlformats.org/officeDocument/2006/relationships/slide" Target="/ppt/slides/slide9.xml" Id="R6bdf8cd652de4bad" /><Relationship Type="http://schemas.openxmlformats.org/officeDocument/2006/relationships/slide" Target="/ppt/slides/slide10.xml" Id="R3faed298c1ec4b4e" /><Relationship Type="http://schemas.openxmlformats.org/officeDocument/2006/relationships/slide" Target="/ppt/slides/slide11.xml" Id="R26a89a796af54bb2" /><Relationship Type="http://schemas.openxmlformats.org/officeDocument/2006/relationships/slide" Target="/ppt/slides/slide12.xml" Id="R1451b6b80044497a" /><Relationship Type="http://schemas.openxmlformats.org/officeDocument/2006/relationships/slide" Target="/ppt/slides/slide13.xml" Id="R0e1bfcd2917541f0" /><Relationship Type="http://schemas.openxmlformats.org/officeDocument/2006/relationships/slide" Target="/ppt/slides/slide14.xml" Id="R5bb779fcf20b4f90" /><Relationship Type="http://schemas.openxmlformats.org/officeDocument/2006/relationships/slide" Target="/ppt/slides/slide15.xml" Id="R3b06440a08ff49f1" /><Relationship Type="http://schemas.openxmlformats.org/officeDocument/2006/relationships/slide" Target="/ppt/slides/slide16.xml" Id="Raaa8b56192d2488c" /><Relationship Type="http://schemas.openxmlformats.org/officeDocument/2006/relationships/slide" Target="/ppt/slides/slide17.xml" Id="R4e57410c48b94721" /><Relationship Type="http://schemas.openxmlformats.org/officeDocument/2006/relationships/slide" Target="/ppt/slides/slide18.xml" Id="R8ce1b5e62723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9196c5a3e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2d763836c4b9c" /><Relationship Type="http://schemas.openxmlformats.org/officeDocument/2006/relationships/notesMaster" Target="/ppt/notesMasters/notesMaster1.xml" Id="R4f1fd05e79594c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7857bbab44cea" /><Relationship Type="http://schemas.openxmlformats.org/officeDocument/2006/relationships/notesMaster" Target="/ppt/notesMasters/notesMaster1.xml" Id="Redf340f9a703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f1c6f5b894013" /><Relationship Type="http://schemas.openxmlformats.org/officeDocument/2006/relationships/notesMaster" Target="/ppt/notesMasters/notesMaster1.xml" Id="Rde167a1d41e5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e4c93645e43fc" /><Relationship Type="http://schemas.openxmlformats.org/officeDocument/2006/relationships/notesMaster" Target="/ppt/notesMasters/notesMaster1.xml" Id="R8d20b292fcc34a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518c5bf7c47fe" /><Relationship Type="http://schemas.openxmlformats.org/officeDocument/2006/relationships/notesMaster" Target="/ppt/notesMasters/notesMaster1.xml" Id="R5217c63f1cfc4d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5db287c6e54bd8" /><Relationship Type="http://schemas.openxmlformats.org/officeDocument/2006/relationships/notesMaster" Target="/ppt/notesMasters/notesMaster1.xml" Id="R188f74d26a7f43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b3532bd654957" /><Relationship Type="http://schemas.openxmlformats.org/officeDocument/2006/relationships/notesMaster" Target="/ppt/notesMasters/notesMaster1.xml" Id="R5430aeb93e48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d1a5f766f441a2" /><Relationship Type="http://schemas.openxmlformats.org/officeDocument/2006/relationships/notesMaster" Target="/ppt/notesMasters/notesMaster1.xml" Id="R261bfdfcad7b42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715d2eb3084071" /><Relationship Type="http://schemas.openxmlformats.org/officeDocument/2006/relationships/notesMaster" Target="/ppt/notesMasters/notesMaster1.xml" Id="R0ef820afcbe045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0fd774a4ef4a75" /><Relationship Type="http://schemas.openxmlformats.org/officeDocument/2006/relationships/notesMaster" Target="/ppt/notesMasters/notesMaster1.xml" Id="R5397bc1b3e5d4c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172fd5d8d44656" /><Relationship Type="http://schemas.openxmlformats.org/officeDocument/2006/relationships/notesMaster" Target="/ppt/notesMasters/notesMaster1.xml" Id="R42cc4693c96c45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af318ebabe40d7" /><Relationship Type="http://schemas.openxmlformats.org/officeDocument/2006/relationships/notesMaster" Target="/ppt/notesMasters/notesMaster1.xml" Id="R1c5af9d6b17e48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2f27e686764d31" /><Relationship Type="http://schemas.openxmlformats.org/officeDocument/2006/relationships/notesMaster" Target="/ppt/notesMasters/notesMaster1.xml" Id="R0801b72171cc4f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53006fe83e4271" /><Relationship Type="http://schemas.openxmlformats.org/officeDocument/2006/relationships/notesMaster" Target="/ppt/notesMasters/notesMaster1.xml" Id="R6e96e89d5ee849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4e1222f99a442c" /><Relationship Type="http://schemas.openxmlformats.org/officeDocument/2006/relationships/notesMaster" Target="/ppt/notesMasters/notesMaster1.xml" Id="Ra86be32a67364d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2ef1d242094615" /><Relationship Type="http://schemas.openxmlformats.org/officeDocument/2006/relationships/notesMaster" Target="/ppt/notesMasters/notesMaster1.xml" Id="R0df44741775a42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98861befc84a13" /><Relationship Type="http://schemas.openxmlformats.org/officeDocument/2006/relationships/notesMaster" Target="/ppt/notesMasters/notesMaster1.xml" Id="Rbbe46f8ef7564b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ed8f7b1eee4a6c" /><Relationship Type="http://schemas.openxmlformats.org/officeDocument/2006/relationships/notesMaster" Target="/ppt/notesMasters/notesMaster1.xml" Id="Rc08b39d3dfbd42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白雪。我正在做的产品，叫“新品有数”。我们想做到产品上市前心理有数。它服务的是准备做新品的中小老板：在投入更多钱和时间之前，先把用户、需要和购买理由想清楚。今天，我想讲清楚这个产品服务谁、交付什么，以及我准备怎样验证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口径备忘：本次产品定位沿用原稿，slogan按用户最新要求更新。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先从一个具体的问题开始。一个工厂老板，已经很熟悉原料、工艺和生产，也能把产品做出来。当他准备做自己的品牌时，还有一道题：用户为什么选我？供应链里的经验很有价值，面对消费者时，购买理由仍然需要重新找到。新品有数想进入的，就是这个判断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我的第一批目标客户，是想从代工走向自有品牌的 OEM、ODM 工厂老板。我先把范围收在这一群人身上。在我的客户假设里，老板本人决定要不要做，也决定要不要花这笔钱，同时使用这份服务、承担决策结果。这四个角色能否真正集中在一个人身上，我会在合作中继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口径备忘：早期客户假设：买单、使用、受益、决策四个角色聚焦老板本人，仍需验证。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想切入的时刻，是他已经有了产品想法，还没有完成产品定义。比如，他知道自己能做什么，也觉得有机会，但谁会买、什么时候需要、凭什么选择，都还没有梳理完整。这个阶段，他需要一套可以跟着思考的方法，让零散的想法成为可以讨论、可以核实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口径备忘：原稿单点图：真场景为立项前判断，真需求为缺思考模型。先确认用户与需要，不从现有能力倒推产品。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目前看到的替代方式，是拍脑袋、零散看数据，以及请专家却又难以信任。每种方式都可能帮到他，也都可能已经足够。所以，我首先需要听清楚：他最近一次怎样做决定？哪些信息帮上了忙，哪些地方依然拿不准？这些真实经历，才会告诉我，他有没有必要为新的判断服务付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口径备忘：替代方式为原稿观察，不代表已完成行业统计。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我的商业判断，是把前端判断单独交付，后端再按需接专业执行。这样，老板可以先购买一次系统思考，再决定往后投入多少。传统咨询和广告执行有成熟的专业积累；我想尝试用 AI Agent 加思考模型，把前端服务带给中小工厂老板。这条路径是否成立，要由真实付费来回答。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口径备忘：原稿定位为市场延伸，以中小工厂老板的前端判断为入口。传统咨询/广告执行主要服务大品牌，AI Agent与思考模型是产品设计方向。“走向原生”的具体机制不在主讲扩写。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给这项前端服务拟定的价格，是五千元。具体交付包括对问题的梳理、形成判断的依据，以及报告里的下一步。老板付完这笔钱，应该能更清楚自己在判断什么、依据是什么、还有哪些空白。后续专业执行按需承接。五千元是否值得，目前也是我要验证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口径备忘：5000元是拟验证定价，不代表已成交。“价值10万”缺少等价范围和客户认可依据，保留于隐藏备份。专业执行按需另行衔接。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的路径很简单：前面问询，中间思考，最后交付报告。问询帮助老板把想法讲具体；思考环节用经典商业模型组织问题，按需连接用户声音、竞争数据和调研；报告把判断过程留下来。目前的演示，主要展示这条交互路径。真实数据的获取与核实，会随着具体项目开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口径备忘：此页描述完整产品设计；当前演示版使用预设案例，不表示已经接通所有实时研究资源。完整路径为输入想法、Agent梳理、形成判断，再按需陪跑。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看一个长白山人参饮品的演示。起点是：我想做一款方便携带、回应精力不足需要的产品。接下来要问，谁在什么时刻需要？下午开会前，他现在喝咖啡、买能量饮料，还是休息？现有办法哪里不够？这些示例回答都是假设。问询的价值，是把“我能做”推进到具体的购买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口径备忘：截图来自当前“体验人参案例”真实界面，页面内容为预设演示假设，不属于真实访谈结论。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自己的积累，来自过去做过的六百个方案。我希望把其中的经验和经典框架，固化成可以重复使用的思考模型，让更多老板可以进入这个过程。六百个方案说明了经验的来源。这些积累能否变成稳定、有效、让用户愿意付费的产品交付，还要经过新的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口径备忘：600个方案为讲述者在原稿中的自述积累。原稿能力描述为“600方案+经典框架+双飞轮”，双飞轮构成未展开，不增添定义；经验是否形成稳定交付仍需验证。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选择这条路，也意味着调整原来的盈利方式。我愿意接受更低的单项目利润，把方案积累中的 know-how 投入这项前端服务，并探索开放的方式。我要检验的是：长期积累的经验，能不能形成可重复交付的产品。我愿意为这个方向投入，也会为它设下明确的验证边界。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口径备忘：原稿提出传统盈利模式、600方案know-how开源和高利润单项目的取舍。开放范围、形式和阶段未确认，不宣称已经公开发布；10–20倍/最高50倍的比较基准留备份。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道目标，是一百个真实付费用户。这是从零开始的验证目标，当前并没有完成。免费体验和愿意试用，可以帮助我改产品；实际付费，才能进一步回答收费模式的问题。我希望逐步弄清楚，什么样的老板愿意付这笔钱，以及他最终认为哪一部分值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口径备忘：原稿为0到100个真实付费用户，属于目标。标准价、退款、内部订单、独立用户口径待确认，不等同于体验人数。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道目标，是季度连续转介绍率大于百分之十。这同样是目标。我想进一步知道：用完以后，他愿不愿把这项服务推荐给另一个老板？推荐能不能持续发生？我会把实际推荐与口头认可区分开，明确观察口径，再判断它是否真正为用户创造了值得传播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口径备忘：大于10%是目标，连续季度数、分子分母及是否要求新付费用户待确认。咨询行业15–20%/平均低于5%的参考没有逐项来源，留隐藏备份。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也给自己设了一条止损规则：六十天内，如果所有合作方都不接受付费模式，我就认为这个假设不成立，止损，回到广告公司优化。这里要验证的，就是他们愿不愿意为前端判断付费。有人接受以后，也还要继续检查服务质量和推荐情况。投入会跟着证据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口径备忘：止损条件严格保留为60天内所有合作方都不接受付费模式，不改为60天没有完成100位用户。起算日和合作方样本需事先记录。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落地分三步。第一步，完成产品封装，进入内测。第二步，通过老客户带新客户，小范围发布，让真实使用和反馈回流。第三步，再正式发布，进入现有平台的专家服务模式。每一步都围绕同一个客群和付费假设推进，让产品的下一步建立在真实反馈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口径备忘：落地计划按原稿顺序保留，属于计划而非已实现里程碑。平台尚未指定，不增添平台名或日期。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，我想把这件事收回到一个问题：造品方，愿不愿为五千元前端判断付费？接下来的产品、客户和验证，都围绕这个问题展开。我希望把自己积累的判断经验，交到一个准备做新品的老板手里，帮助他更清楚地决定下一步。新品有数，做到产品上市前心理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口径备忘：此页是需要验证的付费假设，不是收入或成功率承诺。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以下数字按原稿保留，尚未核实逐项报告、品类、地区、样本与统计口径。研发周期18至6个月标称3倍，其他数据不做横向换算，不据此推导本产品的成功率、效率或市场规模。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内容来源：用户上传《PK三页-新品有数.pptx》，原稿4页。</a:t>
            </a:r>
          </a:p>
          <a:p xmlns:a="http://schemas.openxmlformats.org/drawingml/2006/main">
            <a:r>
              <a:t>100个付费用户、季度连续转介绍率大于10%都是目标。NPS原稿为10%，本稿没有擅自改写为10分。60天止损条件按原稿保留。600个方案及利润倍数为讲述者自述，未作外部核实。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c54b4ea154a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e200f964348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9e8b055d644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4edc9895b47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5c6c38add4f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90af54e894a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B863C8-9426-4B88-B5C5-B6DAE80EC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3A532-A338-4C46-B25E-87E197D92E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B99247-EA4A-41C7-ABDD-A77C9977B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4FE86-3611-4A54-98D2-69A08E0B6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CE0C3F-B5BA-4EEA-B0E2-44E9911D6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DCBE01-D4F7-40B1-A906-36745FEEF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4F3D72-3264-4DBF-ADF2-CC50DDF1C6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DA3AE0-3940-42B1-B158-0A703EE1D3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06A30E-8C2E-4C82-B620-5A20758E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72ADEC-0BDA-4C00-B4AE-6981B23BE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83af7f684742be" /><Relationship Type="http://schemas.openxmlformats.org/officeDocument/2006/relationships/slideLayout" Target="/ppt/slideLayouts/slideLayout1.xml" Id="R9c03cd86c677457a" /><Relationship Type="http://schemas.openxmlformats.org/officeDocument/2006/relationships/slideLayout" Target="/ppt/slideLayouts/slideLayout2.xml" Id="Rf22b1e83ecdf4a67" /><Relationship Type="http://schemas.openxmlformats.org/officeDocument/2006/relationships/slideLayout" Target="/ppt/slideLayouts/slideLayout3.xml" Id="R514471f8b01340d4" /><Relationship Type="http://schemas.openxmlformats.org/officeDocument/2006/relationships/slideLayout" Target="/ppt/slideLayouts/slideLayout4.xml" Id="R0642fd3ae52b462c" /><Relationship Type="http://schemas.openxmlformats.org/officeDocument/2006/relationships/slideLayout" Target="/ppt/slideLayouts/slideLayout5.xml" Id="Rf3638c86b899422d" /><Relationship Type="http://schemas.openxmlformats.org/officeDocument/2006/relationships/slideLayout" Target="/ppt/slideLayouts/slideLayout6.xml" Id="R2192b23311aa48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3cd86c677457a"/>
    <p:sldLayoutId xmlns:r="http://schemas.openxmlformats.org/officeDocument/2006/relationships" id="2147483650" r:id="Rf22b1e83ecdf4a67"/>
    <p:sldLayoutId xmlns:r="http://schemas.openxmlformats.org/officeDocument/2006/relationships" id="2147483651" r:id="R514471f8b01340d4"/>
    <p:sldLayoutId xmlns:r="http://schemas.openxmlformats.org/officeDocument/2006/relationships" id="2147483652" r:id="R0642fd3ae52b462c"/>
    <p:sldLayoutId xmlns:r="http://schemas.openxmlformats.org/officeDocument/2006/relationships" id="2147483653" r:id="Rf3638c86b899422d"/>
    <p:sldLayoutId xmlns:r="http://schemas.openxmlformats.org/officeDocument/2006/relationships" id="2147483654" r:id="R2192b23311aa48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bf75a79004931" /><Relationship Type="http://schemas.openxmlformats.org/officeDocument/2006/relationships/image" Target="/ppt/media/image.png" Id="Ra71b1de1d22d4bb1" /><Relationship Type="http://schemas.openxmlformats.org/officeDocument/2006/relationships/image" Target="/ppt/media/image2.png" Id="R2ee5764b0b3543aa" /><Relationship Type="http://schemas.openxmlformats.org/officeDocument/2006/relationships/image" Target="/ppt/media/image.svg" Id="Rf186c494e1e84d6b" /><Relationship Type="http://schemas.openxmlformats.org/officeDocument/2006/relationships/notesSlide" Target="/ppt/notesSlides/notesSlide1.xml" Id="Re4dc26828706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39a96f0fcc4aab" /><Relationship Type="http://schemas.openxmlformats.org/officeDocument/2006/relationships/image" Target="/ppt/media/image3.png" Id="Rea642265a66649ae" /><Relationship Type="http://schemas.openxmlformats.org/officeDocument/2006/relationships/image" Target="/ppt/media/image2.svg" Id="Rbc1acf38de704c64" /><Relationship Type="http://schemas.openxmlformats.org/officeDocument/2006/relationships/notesSlide" Target="/ppt/notesSlides/notesSlide2.xml" Id="R2b5bcdcdfc4a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40e787ec6041bf" /><Relationship Type="http://schemas.openxmlformats.org/officeDocument/2006/relationships/image" Target="/ppt/media/image4.png" Id="Rc99eefc1cc8c490b" /><Relationship Type="http://schemas.openxmlformats.org/officeDocument/2006/relationships/image" Target="/ppt/media/image3.svg" Id="Rfa7c4536e69748cf" /><Relationship Type="http://schemas.openxmlformats.org/officeDocument/2006/relationships/notesSlide" Target="/ppt/notesSlides/notesSlide3.xml" Id="R79b5ec654df447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a79454de7499c" /><Relationship Type="http://schemas.openxmlformats.org/officeDocument/2006/relationships/image" Target="/ppt/media/image5.png" Id="R2922851108b049da" /><Relationship Type="http://schemas.openxmlformats.org/officeDocument/2006/relationships/image" Target="/ppt/media/image4.svg" Id="R699a420854a7477e" /><Relationship Type="http://schemas.openxmlformats.org/officeDocument/2006/relationships/notesSlide" Target="/ppt/notesSlides/notesSlide4.xml" Id="Rf7c6ae0b0d0a40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9aedf4a164cdf" /><Relationship Type="http://schemas.openxmlformats.org/officeDocument/2006/relationships/image" Target="/ppt/media/image6.png" Id="R33cd6684fe0d4959" /><Relationship Type="http://schemas.openxmlformats.org/officeDocument/2006/relationships/image" Target="/ppt/media/image5.svg" Id="Rc16baa1232504072" /><Relationship Type="http://schemas.openxmlformats.org/officeDocument/2006/relationships/notesSlide" Target="/ppt/notesSlides/notesSlide5.xml" Id="Rbb73c74a91b440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181a65b214bf5" /><Relationship Type="http://schemas.openxmlformats.org/officeDocument/2006/relationships/image" Target="/ppt/media/image7.png" Id="R6098b49030504e6b" /><Relationship Type="http://schemas.openxmlformats.org/officeDocument/2006/relationships/image" Target="/ppt/media/image6.svg" Id="Rfad73933a56047f4" /><Relationship Type="http://schemas.openxmlformats.org/officeDocument/2006/relationships/notesSlide" Target="/ppt/notesSlides/notesSlide6.xml" Id="Rb3286391c9244c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90946c9c7443e" /><Relationship Type="http://schemas.openxmlformats.org/officeDocument/2006/relationships/notesSlide" Target="/ppt/notesSlides/notesSlide7.xml" Id="R5e40f70c215044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0171d8a2e482f" /><Relationship Type="http://schemas.openxmlformats.org/officeDocument/2006/relationships/image" Target="/ppt/media/image8.png" Id="Raebcc3ef926e43e9" /><Relationship Type="http://schemas.openxmlformats.org/officeDocument/2006/relationships/image" Target="/ppt/media/image7.svg" Id="Raa1e05efd3b14409" /><Relationship Type="http://schemas.openxmlformats.org/officeDocument/2006/relationships/notesSlide" Target="/ppt/notesSlides/notesSlide8.xml" Id="Rd180f022d7c146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c693e8ca9b4ab3" /><Relationship Type="http://schemas.openxmlformats.org/officeDocument/2006/relationships/image" Target="/ppt/media/image9.png" Id="R5b1284fa1b804bb8" /><Relationship Type="http://schemas.openxmlformats.org/officeDocument/2006/relationships/image" Target="/ppt/media/image8.svg" Id="Rd057b1a7d33548f6" /><Relationship Type="http://schemas.openxmlformats.org/officeDocument/2006/relationships/image" Target="/ppt/media/image10.png" Id="R6501fb9f4ea64698" /><Relationship Type="http://schemas.openxmlformats.org/officeDocument/2006/relationships/notesSlide" Target="/ppt/notesSlides/notesSlide9.xml" Id="R2624023ac60047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dea78bdf54752" /><Relationship Type="http://schemas.openxmlformats.org/officeDocument/2006/relationships/image" Target="/ppt/media/image11.png" Id="R3c5d0dca4cda4b60" /><Relationship Type="http://schemas.openxmlformats.org/officeDocument/2006/relationships/image" Target="/ppt/media/image9.svg" Id="R9c56529c27fb4666" /><Relationship Type="http://schemas.openxmlformats.org/officeDocument/2006/relationships/notesSlide" Target="/ppt/notesSlides/notesSlide10.xml" Id="R45f83558a69e41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ca26db1e548af" /><Relationship Type="http://schemas.openxmlformats.org/officeDocument/2006/relationships/image" Target="/ppt/media/image12.png" Id="Rdaec6dd539f94095" /><Relationship Type="http://schemas.openxmlformats.org/officeDocument/2006/relationships/image" Target="/ppt/media/image10.svg" Id="R8c6f8193ba7b4458" /><Relationship Type="http://schemas.openxmlformats.org/officeDocument/2006/relationships/notesSlide" Target="/ppt/notesSlides/notesSlide11.xml" Id="Raab26ac812f744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d1e6baa1f45fb" /><Relationship Type="http://schemas.openxmlformats.org/officeDocument/2006/relationships/notesSlide" Target="/ppt/notesSlides/notesSlide12.xml" Id="Ra20f330cfaea4c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6ed6bab09474a" /><Relationship Type="http://schemas.openxmlformats.org/officeDocument/2006/relationships/image" Target="/ppt/media/image13.png" Id="R5a7e2b8cac1a4d6f" /><Relationship Type="http://schemas.openxmlformats.org/officeDocument/2006/relationships/image" Target="/ppt/media/image11.svg" Id="R2eee03c50410492a" /><Relationship Type="http://schemas.openxmlformats.org/officeDocument/2006/relationships/notesSlide" Target="/ppt/notesSlides/notesSlide13.xml" Id="Re22ac0031e1042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1b7625e9b4685" /><Relationship Type="http://schemas.openxmlformats.org/officeDocument/2006/relationships/image" Target="/ppt/media/image14.png" Id="Ra7fa9a99bef74a77" /><Relationship Type="http://schemas.openxmlformats.org/officeDocument/2006/relationships/image" Target="/ppt/media/image12.svg" Id="R41c473c8c97440b0" /><Relationship Type="http://schemas.openxmlformats.org/officeDocument/2006/relationships/notesSlide" Target="/ppt/notesSlides/notesSlide14.xml" Id="R025938b61de54a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27025ef5749eb" /><Relationship Type="http://schemas.openxmlformats.org/officeDocument/2006/relationships/notesSlide" Target="/ppt/notesSlides/notesSlide15.xml" Id="R1767e0f6c1214b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528766f5b4269" /><Relationship Type="http://schemas.openxmlformats.org/officeDocument/2006/relationships/image" Target="/ppt/media/image15.png" Id="Red2562d7bbc24d05" /><Relationship Type="http://schemas.openxmlformats.org/officeDocument/2006/relationships/image" Target="/ppt/media/image16.png" Id="R3cb0366d1de644e1" /><Relationship Type="http://schemas.openxmlformats.org/officeDocument/2006/relationships/image" Target="/ppt/media/image13.svg" Id="R236cdeb9240b4804" /><Relationship Type="http://schemas.openxmlformats.org/officeDocument/2006/relationships/notesSlide" Target="/ppt/notesSlides/notesSlide16.xml" Id="R0ff3ca7c821a4b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e8c402c4074f3e" /><Relationship Type="http://schemas.openxmlformats.org/officeDocument/2006/relationships/notesSlide" Target="/ppt/notesSlides/notesSlide17.xml" Id="R5df52b2f80804f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252e29a3544c8" /><Relationship Type="http://schemas.openxmlformats.org/officeDocument/2006/relationships/notesSlide" Target="/ppt/notesSlides/notesSlide18.xml" Id="R9b80628766e1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B1B3B-17D4-42EE-B2CC-5F26E4FD6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b1de1d22d4b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34E57-425F-4171-B411-6A01273D3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5764b0b3543aa">
            <a:extLst>
              <a:ext uri="{96DAC541-7B7A-43D3-8B79-37D633B846F1}">
                <asvg:svgBlip xmlns:asvg="http://schemas.microsoft.com/office/drawing/2016/SVG/main" r:embed="Rf186c494e1e84d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E0593240-0F94-4885-B610-392B245F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新品有数">
            <a:extLst xmlns:a="http://schemas.openxmlformats.org/drawingml/2006/main">
              <a:ext uri="{FF2B5EF4-FFF2-40B4-BE49-F238E27FC236}">
                <a16:creationId xmlns:a16="http://schemas.microsoft.com/office/drawing/2014/main" id="{DF5BF039-D73B-4279-B958-C8124C87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6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76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新品有数</a:t>
            </a:r>
          </a:p>
        </p:txBody>
      </p:sp>
      <p:sp>
        <p:nvSpPr>
          <p:cNvPr id="5" name="做到产品上市前心理有数">
            <a:extLst xmlns:a="http://schemas.openxmlformats.org/drawingml/2006/main">
              <a:ext uri="{FF2B5EF4-FFF2-40B4-BE49-F238E27FC236}">
                <a16:creationId xmlns:a16="http://schemas.microsoft.com/office/drawing/2014/main" id="{A1FA764A-EB60-4A3B-BAD1-38B68CD0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做到产品上市前心理有数</a:t>
            </a:r>
          </a:p>
        </p:txBody>
      </p:sp>
      <p:sp>
        <p:nvSpPr>
          <p:cNvPr id="6" name="白雪">
            <a:extLst xmlns:a="http://schemas.openxmlformats.org/drawingml/2006/main">
              <a:ext uri="{FF2B5EF4-FFF2-40B4-BE49-F238E27FC236}">
                <a16:creationId xmlns:a16="http://schemas.microsoft.com/office/drawing/2014/main" id="{2A1B9D29-5424-4C40-AAF8-0C8839E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白雪</a:t>
            </a:r>
          </a:p>
        </p:txBody>
      </p:sp>
    </p:spTree>
    <p:extLst>
      <p:ext uri="{BB962C8B-B14F-4D97-AF65-F5344CB8AC3E}">
        <p14:creationId xmlns:p14="http://schemas.microsoft.com/office/powerpoint/2010/main" val="1187153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A26C8-8D76-4937-BFE8-0058DDB58B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42265a66649ae">
            <a:extLst>
              <a:ext uri="{96DAC541-7B7A-43D3-8B79-37D633B846F1}">
                <asvg:svgBlip xmlns:asvg="http://schemas.microsoft.com/office/drawing/2016/SVG/main" r:embed="Rbc1acf38de704c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329BDED5-596B-4E49-A288-A54F69B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产品能做出来">
            <a:extLst xmlns:a="http://schemas.openxmlformats.org/drawingml/2006/main">
              <a:ext uri="{FF2B5EF4-FFF2-40B4-BE49-F238E27FC236}">
                <a16:creationId xmlns:a16="http://schemas.microsoft.com/office/drawing/2014/main" id="{C0F2DF73-DFD5-4D5F-B200-6A83CDA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产品能做出来</a:t>
            </a:r>
          </a:p>
        </p:txBody>
      </p:sp>
      <p:sp>
        <p:nvSpPr>
          <p:cNvPr id="4" name="用户为什么选？">
            <a:extLst xmlns:a="http://schemas.openxmlformats.org/drawingml/2006/main">
              <a:ext uri="{FF2B5EF4-FFF2-40B4-BE49-F238E27FC236}">
                <a16:creationId xmlns:a16="http://schemas.microsoft.com/office/drawing/2014/main" id="{FC649E01-9808-4760-BE24-128C346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9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69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用户为什么选？</a:t>
            </a:r>
          </a:p>
        </p:txBody>
      </p:sp>
      <p:sp>
        <p:nvSpPr>
          <p:cNvPr id="5" name="从熟悉制造，到直接面对消费者">
            <a:extLst xmlns:a="http://schemas.openxmlformats.org/drawingml/2006/main">
              <a:ext uri="{FF2B5EF4-FFF2-40B4-BE49-F238E27FC236}">
                <a16:creationId xmlns:a16="http://schemas.microsoft.com/office/drawing/2014/main" id="{C80D22E8-C857-4411-8523-A1126FFA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从熟悉制造，到直接面对消费者</a:t>
            </a:r>
          </a:p>
        </p:txBody>
      </p:sp>
    </p:spTree>
    <p:extLst>
      <p:ext uri="{BB962C8B-B14F-4D97-AF65-F5344CB8AC3E}">
        <p14:creationId xmlns:p14="http://schemas.microsoft.com/office/powerpoint/2010/main" val="2140655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11BC8-CEF9-4A88-B9E3-B6F9BC94F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eefc1cc8c490b">
            <a:extLst>
              <a:ext uri="{96DAC541-7B7A-43D3-8B79-37D633B846F1}">
                <asvg:svgBlip xmlns:asvg="http://schemas.microsoft.com/office/drawing/2016/SVG/main" r:embed="Rfa7c4536e69748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9BD2702C-1A82-4239-9029-E814B3E1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" name="第一位顾客">
            <a:extLst xmlns:a="http://schemas.openxmlformats.org/drawingml/2006/main">
              <a:ext uri="{FF2B5EF4-FFF2-40B4-BE49-F238E27FC236}">
                <a16:creationId xmlns:a16="http://schemas.microsoft.com/office/drawing/2014/main" id="{E08C48AC-207D-4549-AFDA-3FFDE95C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第一位顾客</a:t>
            </a:r>
          </a:p>
        </p:txBody>
      </p:sp>
      <p:sp>
        <p:nvSpPr>
          <p:cNvPr id="4" name="OEM / ODM">
            <a:extLst xmlns:a="http://schemas.openxmlformats.org/drawingml/2006/main">
              <a:ext uri="{FF2B5EF4-FFF2-40B4-BE49-F238E27FC236}">
                <a16:creationId xmlns:a16="http://schemas.microsoft.com/office/drawing/2014/main" id="{CCFE0493-B0C7-43E3-A703-4B575B3F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2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72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OEM / ODM</a:t>
            </a:r>
          </a:p>
        </p:txBody>
      </p:sp>
      <p:sp>
        <p:nvSpPr>
          <p:cNvPr id="5" name="工厂老板">
            <a:extLst xmlns:a="http://schemas.openxmlformats.org/drawingml/2006/main">
              <a:ext uri="{FF2B5EF4-FFF2-40B4-BE49-F238E27FC236}">
                <a16:creationId xmlns:a16="http://schemas.microsoft.com/office/drawing/2014/main" id="{1FC1D5C0-D8A3-4579-8E64-A8C0FE8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4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64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工厂老板</a:t>
            </a:r>
          </a:p>
        </p:txBody>
      </p:sp>
      <p:sp>
        <p:nvSpPr>
          <p:cNvPr id="6" name="想从代工走向自有品牌">
            <a:extLst xmlns:a="http://schemas.openxmlformats.org/drawingml/2006/main">
              <a:ext uri="{FF2B5EF4-FFF2-40B4-BE49-F238E27FC236}">
                <a16:creationId xmlns:a16="http://schemas.microsoft.com/office/drawing/2014/main" id="{C2E9961A-3661-4D6C-8BD2-9A31490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想从代工走向自有品牌</a:t>
            </a:r>
          </a:p>
        </p:txBody>
      </p:sp>
    </p:spTree>
    <p:extLst>
      <p:ext uri="{BB962C8B-B14F-4D97-AF65-F5344CB8AC3E}">
        <p14:creationId xmlns:p14="http://schemas.microsoft.com/office/powerpoint/2010/main" val="1248821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0843-7B71-4794-9BDB-A6DA9FF2E5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2851108b049da">
            <a:extLst>
              <a:ext uri="{96DAC541-7B7A-43D3-8B79-37D633B846F1}">
                <asvg:svgBlip xmlns:asvg="http://schemas.microsoft.com/office/drawing/2016/SVG/main" r:embed="R699a420854a747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53057722-68CB-46E6-A521-555CCC10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" name="有了产品想法">
            <a:extLst xmlns:a="http://schemas.openxmlformats.org/drawingml/2006/main">
              <a:ext uri="{FF2B5EF4-FFF2-40B4-BE49-F238E27FC236}">
                <a16:creationId xmlns:a16="http://schemas.microsoft.com/office/drawing/2014/main" id="{9F8E94D5-69BF-435F-998B-4443AD8E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2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2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有了产品想法</a:t>
            </a:r>
          </a:p>
        </p:txBody>
      </p:sp>
      <p:sp>
        <p:nvSpPr>
          <p:cNvPr id="4" name="还没完成产品定义">
            <a:extLst xmlns:a="http://schemas.openxmlformats.org/drawingml/2006/main">
              <a:ext uri="{FF2B5EF4-FFF2-40B4-BE49-F238E27FC236}">
                <a16:creationId xmlns:a16="http://schemas.microsoft.com/office/drawing/2014/main" id="{14D053C7-02B6-4169-8516-AF0F0F9F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051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2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2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2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还没完成产品定义</a:t>
            </a:r>
          </a:p>
        </p:txBody>
      </p:sp>
      <p:sp>
        <p:nvSpPr>
          <p:cNvPr id="5" name="准备继续投入之前，先把判断想清楚">
            <a:extLst xmlns:a="http://schemas.openxmlformats.org/drawingml/2006/main">
              <a:ext uri="{FF2B5EF4-FFF2-40B4-BE49-F238E27FC236}">
                <a16:creationId xmlns:a16="http://schemas.microsoft.com/office/drawing/2014/main" id="{1B359E2F-3CEE-4E14-B260-50284F08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准备继续投入之前，先把判断想清楚</a:t>
            </a:r>
          </a:p>
        </p:txBody>
      </p:sp>
    </p:spTree>
    <p:extLst>
      <p:ext uri="{BB962C8B-B14F-4D97-AF65-F5344CB8AC3E}">
        <p14:creationId xmlns:p14="http://schemas.microsoft.com/office/powerpoint/2010/main" val="1002504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BD0DB-5A40-4BD4-8743-C70D76A50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d6684fe0d4959">
            <a:extLst>
              <a:ext uri="{96DAC541-7B7A-43D3-8B79-37D633B846F1}">
                <asvg:svgBlip xmlns:asvg="http://schemas.microsoft.com/office/drawing/2016/SVG/main" r:embed="Rc16baa12325040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CC12A0CD-3969-44D4-A836-D1ED004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" name="现在，老板怎样判断？">
            <a:extLst xmlns:a="http://schemas.openxmlformats.org/drawingml/2006/main">
              <a:ext uri="{FF2B5EF4-FFF2-40B4-BE49-F238E27FC236}">
                <a16:creationId xmlns:a16="http://schemas.microsoft.com/office/drawing/2014/main" id="{C7BF348B-36BC-4C22-BA3E-19A44F34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1445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现在，老板怎样判断？</a:t>
            </a:r>
          </a:p>
        </p:txBody>
      </p:sp>
      <p:sp>
        <p:nvSpPr>
          <p:cNvPr id="4" name="拍脑袋">
            <a:extLst xmlns:a="http://schemas.openxmlformats.org/drawingml/2006/main">
              <a:ext uri="{FF2B5EF4-FFF2-40B4-BE49-F238E27FC236}">
                <a16:creationId xmlns:a16="http://schemas.microsoft.com/office/drawing/2014/main" id="{DB8131AB-9419-421A-86A4-E106440E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拍脑袋</a:t>
            </a:r>
          </a:p>
        </p:txBody>
      </p:sp>
      <p:sp>
        <p:nvSpPr>
          <p:cNvPr id="5" name="零散看数据">
            <a:extLst xmlns:a="http://schemas.openxmlformats.org/drawingml/2006/main">
              <a:ext uri="{FF2B5EF4-FFF2-40B4-BE49-F238E27FC236}">
                <a16:creationId xmlns:a16="http://schemas.microsoft.com/office/drawing/2014/main" id="{049B69B1-3413-444B-B225-7BD96EE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02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02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零散看数据</a:t>
            </a:r>
          </a:p>
        </p:txBody>
      </p:sp>
      <p:sp>
        <p:nvSpPr>
          <p:cNvPr id="6" name="请专家，又不信">
            <a:extLst xmlns:a="http://schemas.openxmlformats.org/drawingml/2006/main">
              <a:ext uri="{FF2B5EF4-FFF2-40B4-BE49-F238E27FC236}">
                <a16:creationId xmlns:a16="http://schemas.microsoft.com/office/drawing/2014/main" id="{30BBFA39-A060-425D-B642-13C6C030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025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请专家，又不信</a:t>
            </a:r>
          </a:p>
        </p:txBody>
      </p:sp>
      <p:sp>
        <p:nvSpPr>
          <p:cNvPr id="7" name="这些现有选择，还需要逐一核实">
            <a:extLst xmlns:a="http://schemas.openxmlformats.org/drawingml/2006/main">
              <a:ext uri="{FF2B5EF4-FFF2-40B4-BE49-F238E27FC236}">
                <a16:creationId xmlns:a16="http://schemas.microsoft.com/office/drawing/2014/main" id="{2F54D78F-60DB-40C2-8BDA-4AB06D20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这些现有选择，还需要逐一核实</a:t>
            </a:r>
          </a:p>
        </p:txBody>
      </p:sp>
    </p:spTree>
    <p:extLst>
      <p:ext uri="{BB962C8B-B14F-4D97-AF65-F5344CB8AC3E}">
        <p14:creationId xmlns:p14="http://schemas.microsoft.com/office/powerpoint/2010/main" val="1856278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0F024-E2C1-4AE7-BB61-D00DFD36F0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8b49030504e6b">
            <a:extLst>
              <a:ext uri="{96DAC541-7B7A-43D3-8B79-37D633B846F1}">
                <asvg:svgBlip xmlns:asvg="http://schemas.microsoft.com/office/drawing/2016/SVG/main" r:embed="Rfad73933a56047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8A77E3C3-37B4-485B-9D22-6FFF05BC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" name="判断，先单独交付">
            <a:extLst xmlns:a="http://schemas.openxmlformats.org/drawingml/2006/main">
              <a:ext uri="{FF2B5EF4-FFF2-40B4-BE49-F238E27FC236}">
                <a16:creationId xmlns:a16="http://schemas.microsoft.com/office/drawing/2014/main" id="{8D009106-EA8A-4EF6-A693-6518730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51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7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7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判断，先单独交付</a:t>
            </a:r>
          </a:p>
        </p:txBody>
      </p:sp>
      <p:sp>
        <p:nvSpPr>
          <p:cNvPr id="4" name="前端判断">
            <a:extLst xmlns:a="http://schemas.openxmlformats.org/drawingml/2006/main">
              <a:ext uri="{FF2B5EF4-FFF2-40B4-BE49-F238E27FC236}">
                <a16:creationId xmlns:a16="http://schemas.microsoft.com/office/drawing/2014/main" id="{A567B806-61E9-4D23-B507-B0A46CC0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457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前端判断</a:t>
            </a:r>
          </a:p>
        </p:txBody>
      </p:sp>
      <p:sp>
        <p:nvSpPr>
          <p:cNvPr id="5" name="用思考模型梳理问题">
            <a:extLst xmlns:a="http://schemas.openxmlformats.org/drawingml/2006/main">
              <a:ext uri="{FF2B5EF4-FFF2-40B4-BE49-F238E27FC236}">
                <a16:creationId xmlns:a16="http://schemas.microsoft.com/office/drawing/2014/main" id="{8ECF187A-76D1-47C6-90B1-4B60A653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用思考模型梳理问题</a:t>
            </a:r>
          </a:p>
        </p:txBody>
      </p:sp>
      <p:sp>
        <p:nvSpPr>
          <p:cNvPr id="6" name="后端执行">
            <a:extLst xmlns:a="http://schemas.openxmlformats.org/drawingml/2006/main">
              <a:ext uri="{FF2B5EF4-FFF2-40B4-BE49-F238E27FC236}">
                <a16:creationId xmlns:a16="http://schemas.microsoft.com/office/drawing/2014/main" id="{C86D41E9-82C3-44F3-9589-BA53098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95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后端执行</a:t>
            </a:r>
          </a:p>
        </p:txBody>
      </p:sp>
      <p:sp>
        <p:nvSpPr>
          <p:cNvPr id="7" name="按需承接专业服务">
            <a:extLst xmlns:a="http://schemas.openxmlformats.org/drawingml/2006/main">
              <a:ext uri="{FF2B5EF4-FFF2-40B4-BE49-F238E27FC236}">
                <a16:creationId xmlns:a16="http://schemas.microsoft.com/office/drawing/2014/main" id="{AF3B7DDB-7DE8-4885-BF57-3D1E2843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95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按需承接专业服务</a:t>
            </a:r>
          </a:p>
        </p:txBody>
      </p:sp>
    </p:spTree>
    <p:extLst>
      <p:ext uri="{BB962C8B-B14F-4D97-AF65-F5344CB8AC3E}">
        <p14:creationId xmlns:p14="http://schemas.microsoft.com/office/powerpoint/2010/main" val="638211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8719B5BA-7A9E-47DE-9E81-F738D7D1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2" name="拟定价格">
            <a:extLst xmlns:a="http://schemas.openxmlformats.org/drawingml/2006/main">
              <a:ext uri="{FF2B5EF4-FFF2-40B4-BE49-F238E27FC236}">
                <a16:creationId xmlns:a16="http://schemas.microsoft.com/office/drawing/2014/main" id="{44D63725-5682-4FF6-B2FD-53C3AD31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79798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79798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797984"/>
                </a:solidFill>
                <a:latin typeface="Noto Sans CJK SC"/>
                <a:ea typeface="Noto Sans CJK SC"/>
                <a:cs typeface="Noto Sans CJK SC"/>
              </a:rPr>
              <a:t>拟定价格</a:t>
            </a:r>
          </a:p>
        </p:txBody>
      </p:sp>
      <p:sp>
        <p:nvSpPr>
          <p:cNvPr id="3" name="¥5,000">
            <a:extLst xmlns:a="http://schemas.openxmlformats.org/drawingml/2006/main">
              <a:ext uri="{FF2B5EF4-FFF2-40B4-BE49-F238E27FC236}">
                <a16:creationId xmlns:a16="http://schemas.microsoft.com/office/drawing/2014/main" id="{AEC4AD48-32FF-44E3-8AEA-C65E88C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5156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9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9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9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¥5,000</a:t>
            </a:r>
          </a:p>
        </p:txBody>
      </p:sp>
      <p:sp>
        <p:nvSpPr>
          <p:cNvPr id="4" name="一次上市前判断">
            <a:extLst xmlns:a="http://schemas.openxmlformats.org/drawingml/2006/main">
              <a:ext uri="{FF2B5EF4-FFF2-40B4-BE49-F238E27FC236}">
                <a16:creationId xmlns:a16="http://schemas.microsoft.com/office/drawing/2014/main" id="{FCCEB870-EC40-41DE-83DD-82B8EF3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一次上市前判断</a:t>
            </a:r>
          </a:p>
        </p:txBody>
      </p:sp>
      <p:sp>
        <p:nvSpPr>
          <p:cNvPr id="5" name="梳理问题、判断依据与下一步">
            <a:extLst xmlns:a="http://schemas.openxmlformats.org/drawingml/2006/main">
              <a:ext uri="{FF2B5EF4-FFF2-40B4-BE49-F238E27FC236}">
                <a16:creationId xmlns:a16="http://schemas.microsoft.com/office/drawing/2014/main" id="{01680A55-CF88-4DEA-841C-9FFD3A0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梳理问题、判断依据与下一步</a:t>
            </a:r>
          </a:p>
        </p:txBody>
      </p:sp>
    </p:spTree>
    <p:extLst>
      <p:ext uri="{BB962C8B-B14F-4D97-AF65-F5344CB8AC3E}">
        <p14:creationId xmlns:p14="http://schemas.microsoft.com/office/powerpoint/2010/main" val="987614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9907F-12B0-412E-A50E-1AF3D2A4B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cc3ef926e43e9">
            <a:extLst>
              <a:ext uri="{96DAC541-7B7A-43D3-8B79-37D633B846F1}">
                <asvg:svgBlip xmlns:asvg="http://schemas.microsoft.com/office/drawing/2016/SVG/main" r:embed="Raa1e05efd3b144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22259144-1D99-4AC3-BDA0-BB326450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3" name="把判断过程，做成产品">
            <a:extLst xmlns:a="http://schemas.openxmlformats.org/drawingml/2006/main">
              <a:ext uri="{FF2B5EF4-FFF2-40B4-BE49-F238E27FC236}">
                <a16:creationId xmlns:a16="http://schemas.microsoft.com/office/drawing/2014/main" id="{E5B68570-FEA7-459B-A2B7-1952086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051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把判断过程，做成产品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DDE8F79-7A62-4715-848D-3D0F0EB4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问询">
            <a:extLst xmlns:a="http://schemas.openxmlformats.org/drawingml/2006/main">
              <a:ext uri="{FF2B5EF4-FFF2-40B4-BE49-F238E27FC236}">
                <a16:creationId xmlns:a16="http://schemas.microsoft.com/office/drawing/2014/main" id="{1634729C-4DE9-4DFE-A9A5-5982A13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问询</a:t>
            </a:r>
          </a:p>
        </p:txBody>
      </p:sp>
      <p:sp>
        <p:nvSpPr>
          <p:cNvPr id="6" name="把想法讲具体">
            <a:extLst xmlns:a="http://schemas.openxmlformats.org/drawingml/2006/main">
              <a:ext uri="{FF2B5EF4-FFF2-40B4-BE49-F238E27FC236}">
                <a16:creationId xmlns:a16="http://schemas.microsoft.com/office/drawing/2014/main" id="{01D9E4D9-137E-48AF-8574-7D22EE7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把想法讲具体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064FF3D-B51A-4AEB-AE09-A2BE1F0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67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思考">
            <a:extLst xmlns:a="http://schemas.openxmlformats.org/drawingml/2006/main">
              <a:ext uri="{FF2B5EF4-FFF2-40B4-BE49-F238E27FC236}">
                <a16:creationId xmlns:a16="http://schemas.microsoft.com/office/drawing/2014/main" id="{83D5B6FF-B861-44C6-95CD-D4167C2B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528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5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思考</a:t>
            </a:r>
          </a:p>
        </p:txBody>
      </p:sp>
      <p:sp>
        <p:nvSpPr>
          <p:cNvPr id="9" name="用模型组织问题">
            <a:extLst xmlns:a="http://schemas.openxmlformats.org/drawingml/2006/main">
              <a:ext uri="{FF2B5EF4-FFF2-40B4-BE49-F238E27FC236}">
                <a16:creationId xmlns:a16="http://schemas.microsoft.com/office/drawing/2014/main" id="{A0F0DE9C-19E0-4535-B464-7EC358C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用模型组织问题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A0F71008-43DA-408C-9E1A-C10B447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67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报告">
            <a:extLst xmlns:a="http://schemas.openxmlformats.org/drawingml/2006/main">
              <a:ext uri="{FF2B5EF4-FFF2-40B4-BE49-F238E27FC236}">
                <a16:creationId xmlns:a16="http://schemas.microsoft.com/office/drawing/2014/main" id="{D54E7BDC-5DA1-4667-915D-3D84E91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报告</a:t>
            </a:r>
          </a:p>
        </p:txBody>
      </p:sp>
      <p:sp>
        <p:nvSpPr>
          <p:cNvPr id="12" name="留下判断与下一步">
            <a:extLst xmlns:a="http://schemas.openxmlformats.org/drawingml/2006/main">
              <a:ext uri="{FF2B5EF4-FFF2-40B4-BE49-F238E27FC236}">
                <a16:creationId xmlns:a16="http://schemas.microsoft.com/office/drawing/2014/main" id="{0F046DD5-FF8A-400D-A66D-E8A2282B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434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留下判断与下一步</a:t>
            </a:r>
          </a:p>
        </p:txBody>
      </p:sp>
      <p:sp>
        <p:nvSpPr>
          <p:cNvPr id="13" name="产品方案按需连接用户声音、竞争数据与">
            <a:extLst xmlns:a="http://schemas.openxmlformats.org/drawingml/2006/main">
              <a:ext uri="{FF2B5EF4-FFF2-40B4-BE49-F238E27FC236}">
                <a16:creationId xmlns:a16="http://schemas.microsoft.com/office/drawing/2014/main" id="{BD7B5960-863D-4CFF-97B6-672AC847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产品方案按需连接用户声音、竞争数据与调研</a:t>
            </a:r>
          </a:p>
        </p:txBody>
      </p:sp>
    </p:spTree>
    <p:extLst>
      <p:ext uri="{BB962C8B-B14F-4D97-AF65-F5344CB8AC3E}">
        <p14:creationId xmlns:p14="http://schemas.microsoft.com/office/powerpoint/2010/main" val="5050672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1CA88-16EB-419B-B3FD-3E55FE1F4C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284fa1b804bb8">
            <a:extLst>
              <a:ext uri="{96DAC541-7B7A-43D3-8B79-37D633B846F1}">
                <asvg:svgBlip xmlns:asvg="http://schemas.microsoft.com/office/drawing/2016/SVG/main" r:embed="Rd057b1a7d33548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42C3F0B-617B-4810-BCAD-3EE50B23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3" name="谁，在什么时刻，会选择长白山人参？">
            <a:extLst xmlns:a="http://schemas.openxmlformats.org/drawingml/2006/main">
              <a:ext uri="{FF2B5EF4-FFF2-40B4-BE49-F238E27FC236}">
                <a16:creationId xmlns:a16="http://schemas.microsoft.com/office/drawing/2014/main" id="{1F78F9F3-AB6D-4134-97F5-A662B266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10515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谁，在什么时刻，会选择长白山人参？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EECD4-5079-4D93-8F24-1D6300CD3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1fb9f4ea64698"/>
          <a:stretch xmlns:a="http://schemas.openxmlformats.org/drawingml/2006/main"/>
        </p:blipFill>
        <p:spPr>
          <a:xfrm xmlns:a="http://schemas.openxmlformats.org/drawingml/2006/main">
            <a:off x="2571750" y="2057855"/>
            <a:ext cx="7048500" cy="4075790"/>
          </a:xfrm>
          <a:prstGeom xmlns:a="http://schemas.openxmlformats.org/drawingml/2006/main" prst="rect">
            <a:avLst/>
          </a:prstGeom>
        </p:spPr>
      </p:pic>
      <p:sp>
        <p:nvSpPr>
          <p:cNvPr id="5" name="产品演示：示例回答为假设">
            <a:extLst xmlns:a="http://schemas.openxmlformats.org/drawingml/2006/main">
              <a:ext uri="{FF2B5EF4-FFF2-40B4-BE49-F238E27FC236}">
                <a16:creationId xmlns:a16="http://schemas.microsoft.com/office/drawing/2014/main" id="{4D9FA59E-A87F-44A7-A156-E46CA22D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960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产品演示：示例回答为假设</a:t>
            </a:r>
          </a:p>
        </p:txBody>
      </p:sp>
    </p:spTree>
    <p:extLst>
      <p:ext uri="{BB962C8B-B14F-4D97-AF65-F5344CB8AC3E}">
        <p14:creationId xmlns:p14="http://schemas.microsoft.com/office/powerpoint/2010/main" val="1072108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CC9AD-C188-4749-8657-7429D087CF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d0dca4cda4b60">
            <a:extLst>
              <a:ext uri="{96DAC541-7B7A-43D3-8B79-37D633B846F1}">
                <asvg:svgBlip xmlns:asvg="http://schemas.microsoft.com/office/drawing/2016/SVG/main" r:embed="R9c56529c27fb46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A47D5E0D-7AEF-401C-81B0-6F15CE1B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3" name="已有积累">
            <a:extLst xmlns:a="http://schemas.openxmlformats.org/drawingml/2006/main">
              <a:ext uri="{FF2B5EF4-FFF2-40B4-BE49-F238E27FC236}">
                <a16:creationId xmlns:a16="http://schemas.microsoft.com/office/drawing/2014/main" id="{0C63BEC0-9D39-4379-9D40-DE4DE255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已有积累</a:t>
            </a:r>
          </a:p>
        </p:txBody>
      </p:sp>
      <p:sp>
        <p:nvSpPr>
          <p:cNvPr id="4" name="600">
            <a:extLst xmlns:a="http://schemas.openxmlformats.org/drawingml/2006/main">
              <a:ext uri="{FF2B5EF4-FFF2-40B4-BE49-F238E27FC236}">
                <a16:creationId xmlns:a16="http://schemas.microsoft.com/office/drawing/2014/main" id="{47704E89-C1B3-4B74-9A4E-D75699EC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5156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7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600</a:t>
            </a:r>
          </a:p>
        </p:txBody>
      </p:sp>
      <p:sp>
        <p:nvSpPr>
          <p:cNvPr id="5" name="个方案沉淀的判断经验">
            <a:extLst xmlns:a="http://schemas.openxmlformats.org/drawingml/2006/main">
              <a:ext uri="{FF2B5EF4-FFF2-40B4-BE49-F238E27FC236}">
                <a16:creationId xmlns:a16="http://schemas.microsoft.com/office/drawing/2014/main" id="{46E7E10F-3C9E-4831-82C2-CD710B4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2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个方案沉淀的判断经验</a:t>
            </a:r>
          </a:p>
        </p:txBody>
      </p:sp>
      <p:sp>
        <p:nvSpPr>
          <p:cNvPr id="6" name="把长期经验封装为可复用的思考模型">
            <a:extLst xmlns:a="http://schemas.openxmlformats.org/drawingml/2006/main">
              <a:ext uri="{FF2B5EF4-FFF2-40B4-BE49-F238E27FC236}">
                <a16:creationId xmlns:a16="http://schemas.microsoft.com/office/drawing/2014/main" id="{5E28D2F0-2376-4643-B464-31189C9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把长期经验封装为可复用的思考模型</a:t>
            </a:r>
          </a:p>
        </p:txBody>
      </p:sp>
    </p:spTree>
    <p:extLst>
      <p:ext uri="{BB962C8B-B14F-4D97-AF65-F5344CB8AC3E}">
        <p14:creationId xmlns:p14="http://schemas.microsoft.com/office/powerpoint/2010/main" val="1143995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DC692-0A53-4BD5-80A3-B70EE7A25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c6dd539f94095">
            <a:extLst>
              <a:ext uri="{96DAC541-7B7A-43D3-8B79-37D633B846F1}">
                <asvg:svgBlip xmlns:asvg="http://schemas.microsoft.com/office/drawing/2016/SVG/main" r:embed="R8c6f8193ba7b44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F8CA729-E188-45EE-8438-2794DAA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3" name="开放积累">
            <a:extLst xmlns:a="http://schemas.openxmlformats.org/drawingml/2006/main">
              <a:ext uri="{FF2B5EF4-FFF2-40B4-BE49-F238E27FC236}">
                <a16:creationId xmlns:a16="http://schemas.microsoft.com/office/drawing/2014/main" id="{7FE2D00D-8B1E-4012-9672-7730C0E4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515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61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开放积累</a:t>
            </a:r>
          </a:p>
        </p:txBody>
      </p:sp>
      <p:sp>
        <p:nvSpPr>
          <p:cNvPr id="4" name="接受更低的单项目利润">
            <a:extLst xmlns:a="http://schemas.openxmlformats.org/drawingml/2006/main">
              <a:ext uri="{FF2B5EF4-FFF2-40B4-BE49-F238E27FC236}">
                <a16:creationId xmlns:a16="http://schemas.microsoft.com/office/drawing/2014/main" id="{B3CDBA8B-8132-4DDD-93E8-99D788F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1051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6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6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接受更低的单项目利润</a:t>
            </a:r>
          </a:p>
        </p:txBody>
      </p:sp>
      <p:sp>
        <p:nvSpPr>
          <p:cNvPr id="5" name="把方案 know-how 投入前端判">
            <a:extLst xmlns:a="http://schemas.openxmlformats.org/drawingml/2006/main">
              <a:ext uri="{FF2B5EF4-FFF2-40B4-BE49-F238E27FC236}">
                <a16:creationId xmlns:a16="http://schemas.microsoft.com/office/drawing/2014/main" id="{AAE534B8-270D-48F1-80BF-E646F411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把方案 know-how 投入前端判断服务</a:t>
            </a:r>
          </a:p>
        </p:txBody>
      </p:sp>
    </p:spTree>
    <p:extLst>
      <p:ext uri="{BB962C8B-B14F-4D97-AF65-F5344CB8AC3E}">
        <p14:creationId xmlns:p14="http://schemas.microsoft.com/office/powerpoint/2010/main" val="18598861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12">
            <a:extLst xmlns:a="http://schemas.openxmlformats.org/drawingml/2006/main">
              <a:ext uri="{FF2B5EF4-FFF2-40B4-BE49-F238E27FC236}">
                <a16:creationId xmlns:a16="http://schemas.microsoft.com/office/drawing/2014/main" id="{B726B329-7A23-45B2-A54D-37E79432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2" name="第一阶段验证目标">
            <a:extLst xmlns:a="http://schemas.openxmlformats.org/drawingml/2006/main">
              <a:ext uri="{FF2B5EF4-FFF2-40B4-BE49-F238E27FC236}">
                <a16:creationId xmlns:a16="http://schemas.microsoft.com/office/drawing/2014/main" id="{3372FAD2-B22B-49FB-986C-6F174343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95400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第一阶段验证目标</a:t>
            </a:r>
          </a:p>
        </p:txBody>
      </p:sp>
      <p:sp>
        <p:nvSpPr>
          <p:cNvPr id="3" name="100">
            <a:extLst xmlns:a="http://schemas.openxmlformats.org/drawingml/2006/main">
              <a:ext uri="{FF2B5EF4-FFF2-40B4-BE49-F238E27FC236}">
                <a16:creationId xmlns:a16="http://schemas.microsoft.com/office/drawing/2014/main" id="{7C6EFC58-E73F-4A66-A21C-BE75C863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05156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57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100</a:t>
            </a:r>
          </a:p>
        </p:txBody>
      </p:sp>
      <p:sp>
        <p:nvSpPr>
          <p:cNvPr id="4" name="真实付费用户">
            <a:extLst xmlns:a="http://schemas.openxmlformats.org/drawingml/2006/main">
              <a:ext uri="{FF2B5EF4-FFF2-40B4-BE49-F238E27FC236}">
                <a16:creationId xmlns:a16="http://schemas.microsoft.com/office/drawing/2014/main" id="{8A78F665-5B99-4D42-A18D-19C27DD3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真实付费用户</a:t>
            </a:r>
          </a:p>
        </p:txBody>
      </p:sp>
      <p:sp>
        <p:nvSpPr>
          <p:cNvPr id="5" name="从 0 开始">
            <a:extLst xmlns:a="http://schemas.openxmlformats.org/drawingml/2006/main">
              <a:ext uri="{FF2B5EF4-FFF2-40B4-BE49-F238E27FC236}">
                <a16:creationId xmlns:a16="http://schemas.microsoft.com/office/drawing/2014/main" id="{1B718534-49AB-4650-9286-667E7FD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007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从 0 开始</a:t>
            </a:r>
          </a:p>
        </p:txBody>
      </p:sp>
    </p:spTree>
    <p:extLst>
      <p:ext uri="{BB962C8B-B14F-4D97-AF65-F5344CB8AC3E}">
        <p14:creationId xmlns:p14="http://schemas.microsoft.com/office/powerpoint/2010/main" val="10146696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9056D-25AB-4EEC-9E7B-BB8CFD201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e2b8cac1a4d6f">
            <a:extLst>
              <a:ext uri="{96DAC541-7B7A-43D3-8B79-37D633B846F1}">
                <asvg:svgBlip xmlns:asvg="http://schemas.microsoft.com/office/drawing/2016/SVG/main" r:embed="R2eee03c50410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D4E9BFD3-A013-4857-BA7E-C5689A09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3" name="&gt;10%">
            <a:extLst xmlns:a="http://schemas.openxmlformats.org/drawingml/2006/main">
              <a:ext uri="{FF2B5EF4-FFF2-40B4-BE49-F238E27FC236}">
                <a16:creationId xmlns:a16="http://schemas.microsoft.com/office/drawing/2014/main" id="{92420123-340C-4717-948C-634EC39C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5156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3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3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3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&gt;10%</a:t>
            </a:r>
          </a:p>
        </p:txBody>
      </p:sp>
      <p:sp>
        <p:nvSpPr>
          <p:cNvPr id="4" name="季度连续转介绍率目标">
            <a:extLst xmlns:a="http://schemas.openxmlformats.org/drawingml/2006/main">
              <a:ext uri="{FF2B5EF4-FFF2-40B4-BE49-F238E27FC236}">
                <a16:creationId xmlns:a16="http://schemas.microsoft.com/office/drawing/2014/main" id="{873AC883-309F-4A5C-B5D6-044B79B6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30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季度连续转介绍率目标</a:t>
            </a:r>
          </a:p>
        </p:txBody>
      </p:sp>
      <p:sp>
        <p:nvSpPr>
          <p:cNvPr id="5" name="愿意推荐给另一个老板">
            <a:extLst xmlns:a="http://schemas.openxmlformats.org/drawingml/2006/main">
              <a:ext uri="{FF2B5EF4-FFF2-40B4-BE49-F238E27FC236}">
                <a16:creationId xmlns:a16="http://schemas.microsoft.com/office/drawing/2014/main" id="{142A3D4D-191E-4CA9-8712-ADD82319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愿意推荐给另一个老板</a:t>
            </a:r>
          </a:p>
        </p:txBody>
      </p:sp>
    </p:spTree>
    <p:extLst>
      <p:ext uri="{BB962C8B-B14F-4D97-AF65-F5344CB8AC3E}">
        <p14:creationId xmlns:p14="http://schemas.microsoft.com/office/powerpoint/2010/main" val="10407723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1E66C-9783-41DC-9E0B-CD3FC47584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a9a99bef74a77">
            <a:extLst>
              <a:ext uri="{96DAC541-7B7A-43D3-8B79-37D633B846F1}">
                <asvg:svgBlip xmlns:asvg="http://schemas.microsoft.com/office/drawing/2016/SVG/main" r:embed="R41c473c8c97440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4A3DA4F-EA24-4792-A378-ACFD736F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3" name="60天">
            <a:extLst xmlns:a="http://schemas.openxmlformats.org/drawingml/2006/main">
              <a:ext uri="{FF2B5EF4-FFF2-40B4-BE49-F238E27FC236}">
                <a16:creationId xmlns:a16="http://schemas.microsoft.com/office/drawing/2014/main" id="{A8909364-3986-4AF9-B2C2-04A72EC8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8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8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60天</a:t>
            </a:r>
          </a:p>
        </p:txBody>
      </p:sp>
      <p:sp>
        <p:nvSpPr>
          <p:cNvPr id="4" name="付费模式验证期">
            <a:extLst xmlns:a="http://schemas.openxmlformats.org/drawingml/2006/main">
              <a:ext uri="{FF2B5EF4-FFF2-40B4-BE49-F238E27FC236}">
                <a16:creationId xmlns:a16="http://schemas.microsoft.com/office/drawing/2014/main" id="{7742D610-64B9-4509-B24C-30B95E7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付费模式验证期</a:t>
            </a:r>
          </a:p>
        </p:txBody>
      </p:sp>
      <p:sp>
        <p:nvSpPr>
          <p:cNvPr id="5" name="所有合作方都不接受付费">
            <a:extLst xmlns:a="http://schemas.openxmlformats.org/drawingml/2006/main">
              <a:ext uri="{FF2B5EF4-FFF2-40B4-BE49-F238E27FC236}">
                <a16:creationId xmlns:a16="http://schemas.microsoft.com/office/drawing/2014/main" id="{A3922A16-C67A-4341-93F9-80C3921A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955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所有合作方都不接受付费</a:t>
            </a:r>
          </a:p>
        </p:txBody>
      </p:sp>
      <p:sp>
        <p:nvSpPr>
          <p:cNvPr id="6" name="就止损，回到广告公司优化">
            <a:extLst xmlns:a="http://schemas.openxmlformats.org/drawingml/2006/main">
              <a:ext uri="{FF2B5EF4-FFF2-40B4-BE49-F238E27FC236}">
                <a16:creationId xmlns:a16="http://schemas.microsoft.com/office/drawing/2014/main" id="{93D298A9-5252-4C73-815F-24349915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就止损，回到广告公司优化</a:t>
            </a:r>
          </a:p>
        </p:txBody>
      </p:sp>
    </p:spTree>
    <p:extLst>
      <p:ext uri="{BB962C8B-B14F-4D97-AF65-F5344CB8AC3E}">
        <p14:creationId xmlns:p14="http://schemas.microsoft.com/office/powerpoint/2010/main" val="1705364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15">
            <a:extLst xmlns:a="http://schemas.openxmlformats.org/drawingml/2006/main">
              <a:ext uri="{FF2B5EF4-FFF2-40B4-BE49-F238E27FC236}">
                <a16:creationId xmlns:a16="http://schemas.microsoft.com/office/drawing/2014/main" id="{02C1D0BB-AF0F-4A21-99F8-9CF5BC05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B9BA5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2" name="落地计划">
            <a:extLst xmlns:a="http://schemas.openxmlformats.org/drawingml/2006/main">
              <a:ext uri="{FF2B5EF4-FFF2-40B4-BE49-F238E27FC236}">
                <a16:creationId xmlns:a16="http://schemas.microsoft.com/office/drawing/2014/main" id="{CDD83DB3-57B6-420F-BC09-D902818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90625"/>
            <a:ext cx="1051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8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落地计划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224FAAC-AC7E-4FE4-B8B5-E7BD4FB4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内测">
            <a:extLst xmlns:a="http://schemas.openxmlformats.org/drawingml/2006/main">
              <a:ext uri="{FF2B5EF4-FFF2-40B4-BE49-F238E27FC236}">
                <a16:creationId xmlns:a16="http://schemas.microsoft.com/office/drawing/2014/main" id="{BDBE29AE-CFE2-4849-830F-93538122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内测</a:t>
            </a:r>
          </a:p>
        </p:txBody>
      </p:sp>
      <p:sp>
        <p:nvSpPr>
          <p:cNvPr id="5" name="完成产品封装">
            <a:extLst xmlns:a="http://schemas.openxmlformats.org/drawingml/2006/main">
              <a:ext uri="{FF2B5EF4-FFF2-40B4-BE49-F238E27FC236}">
                <a16:creationId xmlns:a16="http://schemas.microsoft.com/office/drawing/2014/main" id="{F9051F9B-654B-4773-BE36-325B5591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完成产品封装</a:t>
            </a:r>
          </a:p>
        </p:txBody>
      </p:sp>
      <p:sp>
        <p:nvSpPr>
          <p:cNvPr id="6" name="小范围内测">
            <a:extLst xmlns:a="http://schemas.openxmlformats.org/drawingml/2006/main">
              <a:ext uri="{FF2B5EF4-FFF2-40B4-BE49-F238E27FC236}">
                <a16:creationId xmlns:a16="http://schemas.microsoft.com/office/drawing/2014/main" id="{E9FB2F0D-4DE1-48E5-8F57-0529580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小范围内测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647072D-26B6-40CB-AC45-E1B2FECC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956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小范围发布">
            <a:extLst xmlns:a="http://schemas.openxmlformats.org/drawingml/2006/main">
              <a:ext uri="{FF2B5EF4-FFF2-40B4-BE49-F238E27FC236}">
                <a16:creationId xmlns:a16="http://schemas.microsoft.com/office/drawing/2014/main" id="{CAE36454-1F9F-4CE4-9E6D-F5EAEAF2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小范围发布</a:t>
            </a:r>
          </a:p>
        </p:txBody>
      </p:sp>
      <p:sp>
        <p:nvSpPr>
          <p:cNvPr id="9" name="老客户带新客户">
            <a:extLst xmlns:a="http://schemas.openxmlformats.org/drawingml/2006/main">
              <a:ext uri="{FF2B5EF4-FFF2-40B4-BE49-F238E27FC236}">
                <a16:creationId xmlns:a16="http://schemas.microsoft.com/office/drawing/2014/main" id="{870BC8A6-B026-4335-924F-29B34714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57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老客户带新客户</a:t>
            </a:r>
          </a:p>
        </p:txBody>
      </p:sp>
      <p:sp>
        <p:nvSpPr>
          <p:cNvPr id="10" name="让真实反馈回流">
            <a:extLst xmlns:a="http://schemas.openxmlformats.org/drawingml/2006/main">
              <a:ext uri="{FF2B5EF4-FFF2-40B4-BE49-F238E27FC236}">
                <a16:creationId xmlns:a16="http://schemas.microsoft.com/office/drawing/2014/main" id="{C76A3F38-41F0-40AF-949E-64E923BB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让真实反馈回流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41940E30-77B9-4A74-986F-A738C085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9898A3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2" name="正式发布">
            <a:extLst xmlns:a="http://schemas.openxmlformats.org/drawingml/2006/main">
              <a:ext uri="{FF2B5EF4-FFF2-40B4-BE49-F238E27FC236}">
                <a16:creationId xmlns:a16="http://schemas.microsoft.com/office/drawing/2014/main" id="{9E8F1A24-4ACB-4565-9E6C-D4465A3A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5151C"/>
                </a:solidFill>
                <a:latin typeface="Noto Sans CJK SC"/>
                <a:ea typeface="Noto Sans CJK SC"/>
                <a:cs typeface="Noto Sans CJK SC"/>
              </a:rPr>
              <a:t>正式发布</a:t>
            </a:r>
          </a:p>
        </p:txBody>
      </p:sp>
      <p:sp>
        <p:nvSpPr>
          <p:cNvPr id="13" name="进入现有平台">
            <a:extLst xmlns:a="http://schemas.openxmlformats.org/drawingml/2006/main">
              <a:ext uri="{FF2B5EF4-FFF2-40B4-BE49-F238E27FC236}">
                <a16:creationId xmlns:a16="http://schemas.microsoft.com/office/drawing/2014/main" id="{28AC0014-E07A-451F-A45B-39AC8F24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57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进入现有平台</a:t>
            </a:r>
          </a:p>
        </p:txBody>
      </p:sp>
      <p:sp>
        <p:nvSpPr>
          <p:cNvPr id="14" name="接专家服务模式">
            <a:extLst xmlns:a="http://schemas.openxmlformats.org/drawingml/2006/main">
              <a:ext uri="{FF2B5EF4-FFF2-40B4-BE49-F238E27FC236}">
                <a16:creationId xmlns:a16="http://schemas.microsoft.com/office/drawing/2014/main" id="{29159C6C-FFD6-47CD-972C-9066AE73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77782"/>
                </a:solidFill>
                <a:latin typeface="Noto Sans CJK SC"/>
                <a:ea typeface="Noto Sans CJK SC"/>
                <a:cs typeface="Noto Sans CJK SC"/>
              </a:rPr>
              <a:t>接专家服务模式</a:t>
            </a:r>
          </a:p>
        </p:txBody>
      </p:sp>
    </p:spTree>
    <p:extLst>
      <p:ext uri="{BB962C8B-B14F-4D97-AF65-F5344CB8AC3E}">
        <p14:creationId xmlns:p14="http://schemas.microsoft.com/office/powerpoint/2010/main" val="535771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FDF2B-11F2-478E-A972-6A3668402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562d7bbc24d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E250A-CAF8-4602-8489-C1833302F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0366d1de644e1">
            <a:extLst>
              <a:ext uri="{96DAC541-7B7A-43D3-8B79-37D633B846F1}">
                <asvg:svgBlip xmlns:asvg="http://schemas.microsoft.com/office/drawing/2016/SVG/main" r:embed="R236cdeb9240b48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552450"/>
            <a:ext cx="628650" cy="409575"/>
          </a:xfrm>
          <a:prstGeom xmlns:a="http://schemas.openxmlformats.org/drawingml/2006/main" prst="rect">
            <a:avLst/>
          </a:prstGeom>
        </p:spPr>
      </p:pic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B97548F8-CA90-4292-9E6C-4DDA0A0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D5D6B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4" name="新品有数">
            <a:extLst xmlns:a="http://schemas.openxmlformats.org/drawingml/2006/main">
              <a:ext uri="{FF2B5EF4-FFF2-40B4-BE49-F238E27FC236}">
                <a16:creationId xmlns:a16="http://schemas.microsoft.com/office/drawing/2014/main" id="{323F9552-B36F-41BA-9D1A-58AAE75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19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新品有数</a:t>
            </a:r>
          </a:p>
        </p:txBody>
      </p:sp>
      <p:sp>
        <p:nvSpPr>
          <p:cNvPr id="5" name="造品方，愿不愿">
            <a:extLst xmlns:a="http://schemas.openxmlformats.org/drawingml/2006/main">
              <a:ext uri="{FF2B5EF4-FFF2-40B4-BE49-F238E27FC236}">
                <a16:creationId xmlns:a16="http://schemas.microsoft.com/office/drawing/2014/main" id="{948B0AAD-EE51-4325-A84D-BA61EBD9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790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50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造品方，愿不愿</a:t>
            </a:r>
          </a:p>
        </p:txBody>
      </p:sp>
      <p:sp>
        <p:nvSpPr>
          <p:cNvPr id="6" name="为 5000 元">
            <a:extLst xmlns:a="http://schemas.openxmlformats.org/drawingml/2006/main">
              <a:ext uri="{FF2B5EF4-FFF2-40B4-BE49-F238E27FC236}">
                <a16:creationId xmlns:a16="http://schemas.microsoft.com/office/drawing/2014/main" id="{F0DAB773-1672-4744-A351-C133F6B0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790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9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9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为 5000 元</a:t>
            </a:r>
          </a:p>
        </p:txBody>
      </p:sp>
      <p:sp>
        <p:nvSpPr>
          <p:cNvPr id="7" name="前端判断付费？">
            <a:extLst xmlns:a="http://schemas.openxmlformats.org/drawingml/2006/main">
              <a:ext uri="{FF2B5EF4-FFF2-40B4-BE49-F238E27FC236}">
                <a16:creationId xmlns:a16="http://schemas.microsoft.com/office/drawing/2014/main" id="{690D476F-241E-47FB-AC36-C77BC88B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9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9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9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前端判断付费？</a:t>
            </a:r>
          </a:p>
        </p:txBody>
      </p:sp>
      <p:sp>
        <p:nvSpPr>
          <p:cNvPr id="8" name="做到产品上市前心理有数">
            <a:extLst xmlns:a="http://schemas.openxmlformats.org/drawingml/2006/main">
              <a:ext uri="{FF2B5EF4-FFF2-40B4-BE49-F238E27FC236}">
                <a16:creationId xmlns:a16="http://schemas.microsoft.com/office/drawing/2014/main" id="{34DDC37F-3818-4D71-ADC6-14C6E81C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626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C3C3CD"/>
                </a:solidFill>
                <a:latin typeface="Noto Sans CJK SC"/>
                <a:ea typeface="Noto Sans CJK SC"/>
                <a:cs typeface="Noto Sans CJK SC"/>
              </a:rPr>
              <a:t>做到产品上市前心理有数</a:t>
            </a:r>
          </a:p>
        </p:txBody>
      </p:sp>
    </p:spTree>
    <p:extLst>
      <p:ext uri="{BB962C8B-B14F-4D97-AF65-F5344CB8AC3E}">
        <p14:creationId xmlns:p14="http://schemas.microsoft.com/office/powerpoint/2010/main" val="1949230353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备份：市场数字与引用口径">
            <a:extLst xmlns:a="http://schemas.openxmlformats.org/drawingml/2006/main">
              <a:ext uri="{FF2B5EF4-FFF2-40B4-BE49-F238E27FC236}">
                <a16:creationId xmlns:a16="http://schemas.microsoft.com/office/drawing/2014/main" id="{94C9A341-D7AF-4476-8DD5-8364E745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备份：市场数字与引用口径</a:t>
            </a:r>
          </a:p>
        </p:txBody>
      </p:sp>
      <p:sp>
        <p:nvSpPr>
          <p:cNvPr id="2" name="以下来自原稿，具体出处与统计口径尚未">
            <a:extLst xmlns:a="http://schemas.openxmlformats.org/drawingml/2006/main">
              <a:ext uri="{FF2B5EF4-FFF2-40B4-BE49-F238E27FC236}">
                <a16:creationId xmlns:a16="http://schemas.microsoft.com/office/drawing/2014/main" id="{1EFC8B96-D3D1-4050-8268-074A0B72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以下来自原稿，具体出处与统计口径尚未核实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E1225-D65E-4E2C-ACEA-BC1E216B6AB3}"/>
              </a:ext>
            </a:extLst>
          </p:cNvPr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10515600" cy="3667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86150"/>
                <a:gridCol w="7029450"/>
              </a:tblGrid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6F6F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原稿引用</a:t>
                      </a:r>
                    </a:p>
                  </a:txBody>
                  <a:tcPr marL="91440" marR="91440" marT="45720" marB="45720" anchor="ctr">
                    <a:solidFill>
                      <a:srgbClr val="24252E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6F6F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需要核实的口径</a:t>
                      </a:r>
                    </a:p>
                  </a:txBody>
                  <a:tcPr marL="91440" marR="91440" marT="45720" marB="45720" anchor="ctr">
                    <a:solidFill>
                      <a:srgbClr val="24252E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研发周期 18至6个月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具体报告、品类、样本、周期定义及比较基线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新品失败率 95%+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“新品”“失败”的定义、市场范围与时间窗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年 38万 SKU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平台、品类、年份、上新口径与去重方式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AI研发效率提升 3倍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衡量指标、比较基线、适用环节与实验条件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8000家接入 AI孵化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企业还是品牌、平台覆盖、累计还是当年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5238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京东打爆率 5.5倍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爆品定义、比较组、观察窗口与归因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</a:tbl>
          </a:graphicData>
        </a:graphic>
      </p:graphicFrame>
      <p:sp>
        <p:nvSpPr>
          <p:cNvPr id="4" name="原稿合列：贝恩、尼尔森、天猫 TMI">
            <a:extLst xmlns:a="http://schemas.openxmlformats.org/drawingml/2006/main">
              <a:ext uri="{FF2B5EF4-FFF2-40B4-BE49-F238E27FC236}">
                <a16:creationId xmlns:a16="http://schemas.microsoft.com/office/drawing/2014/main" id="{7973B102-AA1F-48CB-BEC5-CE9F460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原稿合列：贝恩、尼尔森、天猫 TMIC、京东（2024至2025）</a:t>
            </a:r>
          </a:p>
        </p:txBody>
      </p:sp>
      <p:sp>
        <p:nvSpPr>
          <p:cNvPr id="5" name="未逐项对应具体报告，暂不作为公开主讲">
            <a:extLst xmlns:a="http://schemas.openxmlformats.org/drawingml/2006/main">
              <a:ext uri="{FF2B5EF4-FFF2-40B4-BE49-F238E27FC236}">
                <a16:creationId xmlns:a16="http://schemas.microsoft.com/office/drawing/2014/main" id="{D3236E36-B698-4F21-B5C7-57D84BA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3410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未逐项对应具体报告，暂不作为公开主讲论据</a:t>
            </a:r>
          </a:p>
        </p:txBody>
      </p:sp>
    </p:spTree>
    <p:extLst>
      <p:ext uri="{BB962C8B-B14F-4D97-AF65-F5344CB8AC3E}">
        <p14:creationId xmlns:p14="http://schemas.microsoft.com/office/powerpoint/2010/main" val="301149626"/>
      </p:ext>
    </p:extLst>
  </p:cSld>
</p:sld>
</file>

<file path=ppt/slides/slide1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D0E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份：价值与验证口径">
            <a:extLst xmlns:a="http://schemas.openxmlformats.org/drawingml/2006/main">
              <a:ext uri="{FF2B5EF4-FFF2-40B4-BE49-F238E27FC236}">
                <a16:creationId xmlns:a16="http://schemas.microsoft.com/office/drawing/2014/main" id="{538C2E66-8434-4492-9931-71F9D6C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"/>
            <a:ext cx="1051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F6F6F8"/>
                </a:solidFill>
                <a:latin typeface="Noto Sans CJK SC"/>
                <a:ea typeface="Noto Sans CJK SC"/>
                <a:cs typeface="Noto Sans CJK SC"/>
              </a:rPr>
              <a:t>备份：价值与验证口径</a:t>
            </a:r>
          </a:p>
        </p:txBody>
      </p:sp>
      <p:sp>
        <p:nvSpPr>
          <p:cNvPr id="2" name="原稿主张、参考数字和验证规则分别保留">
            <a:extLst xmlns:a="http://schemas.openxmlformats.org/drawingml/2006/main">
              <a:ext uri="{FF2B5EF4-FFF2-40B4-BE49-F238E27FC236}">
                <a16:creationId xmlns:a16="http://schemas.microsoft.com/office/drawing/2014/main" id="{8BC96346-335B-4C68-9587-D0D811D7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5730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C1B5DA"/>
                </a:solidFill>
                <a:latin typeface="Noto Sans CJK SC"/>
                <a:ea typeface="Noto Sans CJK SC"/>
                <a:cs typeface="Noto Sans CJK SC"/>
              </a:rPr>
              <a:t>原稿主张、参考数字和验证规则分别保留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CC929-34F1-4933-A2BC-4E04A41D4927}"/>
              </a:ext>
            </a:extLst>
          </p:cNvPr>
          <p:cNvGraphicFramePr/>
          <p:nvPr/>
        </p:nvGraphicFramePr>
        <p:xfrm>
          <a:off xmlns:a="http://schemas.openxmlformats.org/drawingml/2006/main" x="838200" y="1857375"/>
          <a:ext xmlns:a="http://schemas.openxmlformats.org/drawingml/2006/main" cx="10515600" cy="4114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76400"/>
                <a:gridCol w="4114800"/>
                <a:gridCol w="4724400"/>
              </a:tblGrid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6F6F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24252E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6F6F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原稿表述</a:t>
                      </a:r>
                    </a:p>
                  </a:txBody>
                  <a:tcPr marL="91440" marR="91440" marT="45720" marB="45720" anchor="ctr">
                    <a:solidFill>
                      <a:srgbClr val="24252E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6F6F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使用口径</a:t>
                      </a:r>
                    </a:p>
                  </a:txBody>
                  <a:tcPr marL="91440" marR="91440" marT="45720" marB="45720" anchor="ctr">
                    <a:solidFill>
                      <a:srgbClr val="24252E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价值主张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5000元，价值10万元咨询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等价范围、报价、客户认可待核实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推荐参考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咨询做得好15%至20%，平均&lt;5%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来源与分母待核实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NPS判据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持续低于10%时迭代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百分数/分数及持续窗口待确认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利润取舍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10至20倍，最高约50倍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比较基准与成本计入待确认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付费用户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0至100个真实付费用户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验证目标，非已实现成绩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转介绍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季度连续转介绍率&gt;10%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目标，分子分母与季度数待确认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60天止损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所有合作方都不接受付费模式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起算日、样本与付费判定待确认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  <a:tr h="45720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方案开放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600个方案know-how开源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C3C3C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原稿自述，开放范围与阶段待确认</a:t>
                      </a:r>
                    </a:p>
                  </a:txBody>
                  <a:tcPr marL="91440" marR="91440" marT="45720" marB="45720" anchor="ctr">
                    <a:solidFill>
                      <a:srgbClr val="14151B"/>
                    </a:solidFill>
                  </a:tcPr>
                </a:tc>
              </a:tr>
            </a:tbl>
          </a:graphicData>
        </a:graphic>
      </p:graphicFrame>
      <p:sp>
        <p:nvSpPr>
          <p:cNvPr id="4" name="愿景“每个产品都达60分”不作为已验">
            <a:extLst xmlns:a="http://schemas.openxmlformats.org/drawingml/2006/main">
              <a:ext uri="{FF2B5EF4-FFF2-40B4-BE49-F238E27FC236}">
                <a16:creationId xmlns:a16="http://schemas.microsoft.com/office/drawing/2014/main" id="{F0072AD3-4B65-47C4-9023-05E98EC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2939F"/>
                </a:solidFill>
                <a:latin typeface="Noto Sans CJK SC"/>
                <a:ea typeface="Noto Sans CJK SC"/>
                <a:cs typeface="Noto Sans CJK SC"/>
              </a:rPr>
              <a:t>愿景“每个产品都达60分”不作为已验证收益或上市成功保证</a:t>
            </a:r>
          </a:p>
        </p:txBody>
      </p:sp>
    </p:spTree>
    <p:extLst>
      <p:ext uri="{BB962C8B-B14F-4D97-AF65-F5344CB8AC3E}">
        <p14:creationId xmlns:p14="http://schemas.microsoft.com/office/powerpoint/2010/main" val="1513648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2026-10-17T13:00:51.0630000Z</dcterms:created>
  <dcterms:modified xsi:type="dcterms:W3CDTF">2026-10-17T13:00:51.0630000Z</dcterms:modified>
</coreProperties>
</file>